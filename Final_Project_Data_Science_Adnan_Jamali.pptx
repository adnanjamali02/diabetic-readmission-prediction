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pt_workspace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4E40">
              <a:alpha val="7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634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221632" y="1547813"/>
            <a:ext cx="4700736" cy="226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400" spc="300" kern="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FINAL PROJECT: DATA SCIENCE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4320" y="1909762"/>
            <a:ext cx="859536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8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30-Day Hospital Readmission</a:t>
            </a:r>
            <a:endParaRPr lang="en-US" sz="3000" dirty="0"/>
          </a:p>
          <a:p>
            <a:pPr algn="ctr" indent="0" marL="0">
              <a:lnSpc>
                <a:spcPts val="3900"/>
              </a:lnSpc>
              <a:spcAft>
                <a:spcPts val="800"/>
              </a:spcAft>
              <a:buNone/>
            </a:pPr>
            <a:r>
              <a:rPr lang="en-US" sz="3000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Risk Prediction for Diabetic Patients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064050" y="3154263"/>
            <a:ext cx="1015901" cy="3810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46494" y="3395514"/>
            <a:ext cx="345086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Adnan Jamali  |  adnanahmedkj@gmail.com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901"/>
          </a:xfrm>
          <a:prstGeom prst="rect">
            <a:avLst/>
          </a:prstGeom>
          <a:solidFill>
            <a:srgbClr val="0A3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4320" y="331738"/>
            <a:ext cx="859536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01" y="1841302"/>
            <a:ext cx="1168598" cy="2031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82513" y="1841302"/>
            <a:ext cx="0" cy="203195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3859" y="2106364"/>
            <a:ext cx="545908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4877" y="2617440"/>
            <a:ext cx="963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Problem Definition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4877" y="2998440"/>
            <a:ext cx="96387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Understanding the readmission challenge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30301" y="1841302"/>
            <a:ext cx="1168598" cy="2031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954113" y="1841302"/>
            <a:ext cx="0" cy="203195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5459" y="2182564"/>
            <a:ext cx="545908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056477" y="2693640"/>
            <a:ext cx="963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&amp; Cleaning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6477" y="3074640"/>
            <a:ext cx="9638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Dataset overview and preprocessing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01901" y="1841302"/>
            <a:ext cx="1168598" cy="2031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325713" y="1841302"/>
            <a:ext cx="0" cy="203195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7059" y="2334964"/>
            <a:ext cx="545908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18300" y="2846040"/>
            <a:ext cx="3832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8077" y="3074640"/>
            <a:ext cx="963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Exploratory data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3501" y="1841302"/>
            <a:ext cx="1168598" cy="2031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97313" y="1841302"/>
            <a:ext cx="0" cy="203195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8659" y="2182564"/>
            <a:ext cx="545908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99677" y="2693640"/>
            <a:ext cx="963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9677" y="3074640"/>
            <a:ext cx="9638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Feature creation &amp; SMOTE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45101" y="1841302"/>
            <a:ext cx="1168598" cy="2031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68913" y="1841302"/>
            <a:ext cx="0" cy="203195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0259" y="2182564"/>
            <a:ext cx="545908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71277" y="2693640"/>
            <a:ext cx="963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 Building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1277" y="3074640"/>
            <a:ext cx="9638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ML model training &amp; tuning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16701" y="1841302"/>
            <a:ext cx="1168598" cy="2031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440513" y="1841302"/>
            <a:ext cx="0" cy="203195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1859" y="2182564"/>
            <a:ext cx="545908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542877" y="2693640"/>
            <a:ext cx="9638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Results &amp; Impact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42877" y="3074640"/>
            <a:ext cx="96387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Evaluation &amp; business value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78707" y="4717852"/>
            <a:ext cx="762000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704225" y="4654302"/>
            <a:ext cx="37355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30-Day Hospital Readmission Risk Prediction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03293" y="4717852"/>
            <a:ext cx="762000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E398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95263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015901"/>
            <a:ext cx="457200" cy="45720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0155" y="1125438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44501" y="1015901"/>
            <a:ext cx="667776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$15B+ Annual Cost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44501" y="1250752"/>
            <a:ext cx="667776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Hospital readmissions cost the US healthcare system over $15 billion annually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701701"/>
            <a:ext cx="457200" cy="45720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0155" y="1811238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4501" y="1701701"/>
            <a:ext cx="667776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Diabetic Patients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44501" y="1936552"/>
            <a:ext cx="667776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Among the most vulnerable population for unplanned readmissions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2387501"/>
            <a:ext cx="457200" cy="45720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0155" y="2497038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44501" y="2387501"/>
            <a:ext cx="7042011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CMS Penalties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44501" y="2622352"/>
            <a:ext cx="667776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Hospitals face financial penalties under the Hospital Readmissions Reduction Program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3073301"/>
            <a:ext cx="457200" cy="45720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0155" y="3182838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44501" y="3073301"/>
            <a:ext cx="7406253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Our Goal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44501" y="3308152"/>
            <a:ext cx="667776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Build an ML model to identify high-risk patients for preventive intervention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4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64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139427" y="971401"/>
            <a:ext cx="4864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Diabetes 130-US Hospitals Dataset (UCI Machine Learning Repository)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84150" y="1396752"/>
            <a:ext cx="1790849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4150" y="1420564"/>
            <a:ext cx="1790849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659" y="2061865"/>
            <a:ext cx="2313831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101,766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17151" y="2661940"/>
            <a:ext cx="924699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92662" y="2912715"/>
            <a:ext cx="13736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Patient encounters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28900" y="1396752"/>
            <a:ext cx="1790849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628900" y="1420564"/>
            <a:ext cx="1790849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8342" y="2061865"/>
            <a:ext cx="711964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042702" y="2661940"/>
            <a:ext cx="96324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88663" y="2912715"/>
            <a:ext cx="16711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Clinical + demographic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73650" y="1396752"/>
            <a:ext cx="1790849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73650" y="1420564"/>
            <a:ext cx="1790849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4975" y="2061865"/>
            <a:ext cx="1068050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130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048935" y="2661940"/>
            <a:ext cx="1040130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Hospitals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2464" y="2912715"/>
            <a:ext cx="1813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Across the United States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18399" y="1396752"/>
            <a:ext cx="184145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718399" y="1420564"/>
            <a:ext cx="1841450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621" y="2061865"/>
            <a:ext cx="3035379" cy="565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1999-2008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056894" y="2661940"/>
            <a:ext cx="1164312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Time Span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8436" y="2912715"/>
            <a:ext cx="118137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 years of 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0" y="3936802"/>
            <a:ext cx="9144000" cy="38100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4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64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Data Cleaning &amp; Preprocessing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168301"/>
            <a:ext cx="50750" cy="1777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130201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Removed expired patients and invalid records (discharge codes 11, 13, 19, 20, 21)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568202"/>
            <a:ext cx="50750" cy="1777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2750" y="1530102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Dropped high-missing columns: weight (97%), payer_code (40%), medical_specialty (49%)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09600" y="1968103"/>
            <a:ext cx="50750" cy="1777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2750" y="1930003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Replaced '?' with NaN and imputed missing values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2368004"/>
            <a:ext cx="50750" cy="1777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750" y="2329904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Removed single-value columns (examide, citoglipton)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9600" y="2767905"/>
            <a:ext cx="50750" cy="1777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2750" y="2729805"/>
            <a:ext cx="8331250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Final clean dataset: 99,340 records, 45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47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 Distribution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630561"/>
            <a:ext cx="341680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Binary Classification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2017812"/>
            <a:ext cx="3416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Target: Readmitted within 30 days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98812"/>
            <a:ext cx="3416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&lt;30 days = 1 (Positive Class)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779812"/>
            <a:ext cx="3416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Else = 0 (Negative Class)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262313"/>
            <a:ext cx="634901" cy="253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440013"/>
            <a:ext cx="341680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Severe Imbalance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9600" y="3716238"/>
            <a:ext cx="3416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Only 11.2% readmitted within 30 days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4046339"/>
            <a:ext cx="3416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challenge: minority class prediction</a:t>
            </a:r>
            <a:endParaRPr lang="en-US" sz="1200" dirty="0"/>
          </a:p>
        </p:txBody>
      </p:sp>
      <p:pic>
        <p:nvPicPr>
          <p:cNvPr id="12" name="Image 0" descr="/home/z/my-project/download/images/01_targ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8600" y="123825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E398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95263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EDA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01" y="1066800"/>
            <a:ext cx="1854398" cy="25399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58701" y="1085850"/>
            <a:ext cx="1854398" cy="0"/>
          </a:xfrm>
          <a:prstGeom prst="line">
            <a:avLst/>
          </a:prstGeom>
          <a:noFill/>
          <a:ln w="38100">
            <a:solidFill>
              <a:srgbClr val="E398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8278" y="1757363"/>
            <a:ext cx="1255094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70-80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46924" y="2268438"/>
            <a:ext cx="8778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 Group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5639" y="2497038"/>
            <a:ext cx="16805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Has the highest readmission rate among all age groups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16101" y="1066800"/>
            <a:ext cx="1854398" cy="25399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16101" y="1085850"/>
            <a:ext cx="1854398" cy="0"/>
          </a:xfrm>
          <a:prstGeom prst="line">
            <a:avLst/>
          </a:prstGeom>
          <a:noFill/>
          <a:ln w="38100">
            <a:solidFill>
              <a:srgbClr val="E398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609" y="1833563"/>
            <a:ext cx="1489383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Insulin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06291" y="2344638"/>
            <a:ext cx="47401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Users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03039" y="2573238"/>
            <a:ext cx="16805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At significantly higher risk of 30-day readmission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73501" y="1066800"/>
            <a:ext cx="1854398" cy="25399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73501" y="1085850"/>
            <a:ext cx="1854398" cy="0"/>
          </a:xfrm>
          <a:prstGeom prst="line">
            <a:avLst/>
          </a:prstGeom>
          <a:noFill/>
          <a:ln w="38100">
            <a:solidFill>
              <a:srgbClr val="E398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8640" y="1833563"/>
            <a:ext cx="1643970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Prior IP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385383" y="2344638"/>
            <a:ext cx="4304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Visits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60439" y="2573238"/>
            <a:ext cx="16805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Strongest predictor of future readmission risk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30901" y="1066800"/>
            <a:ext cx="1854398" cy="25399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730901" y="1085850"/>
            <a:ext cx="1854398" cy="0"/>
          </a:xfrm>
          <a:prstGeom prst="line">
            <a:avLst/>
          </a:prstGeom>
          <a:noFill/>
          <a:ln w="38100">
            <a:solidFill>
              <a:srgbClr val="E398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7245" y="1757363"/>
            <a:ext cx="1181561" cy="442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94773" y="2268438"/>
            <a:ext cx="72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Changes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7839" y="2497038"/>
            <a:ext cx="16805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Medication changes correlate with readmission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47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58019" y="1143000"/>
            <a:ext cx="609600" cy="609600"/>
          </a:xfrm>
          <a:prstGeom prst="rect">
            <a:avLst/>
          </a:prstGeom>
          <a:solidFill>
            <a:srgbClr val="1A6B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7245" y="1314450"/>
            <a:ext cx="35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4846" y="1905000"/>
            <a:ext cx="137579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 Encoding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5217" y="2181225"/>
            <a:ext cx="1635204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Ordinal encoding for 10 age groups from 0-10 to 90-100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17688" y="1447800"/>
            <a:ext cx="429667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97423" y="1143000"/>
            <a:ext cx="609600" cy="609600"/>
          </a:xfrm>
          <a:prstGeom prst="rect">
            <a:avLst/>
          </a:prstGeom>
          <a:solidFill>
            <a:srgbClr val="1A6B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6649" y="1314450"/>
            <a:ext cx="35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63716" y="1905000"/>
            <a:ext cx="107701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Prior Visits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84621" y="2181225"/>
            <a:ext cx="1635204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Combined outpatient + emergency + inpatient visits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57092" y="1447800"/>
            <a:ext cx="429667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36828" y="1143000"/>
            <a:ext cx="609600" cy="609600"/>
          </a:xfrm>
          <a:prstGeom prst="rect">
            <a:avLst/>
          </a:prstGeom>
          <a:solidFill>
            <a:srgbClr val="1A6B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66054" y="1314450"/>
            <a:ext cx="35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24670" y="1905000"/>
            <a:ext cx="163376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Medication Count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24026" y="2181225"/>
            <a:ext cx="1635204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Count of active diabetes medications per patient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6496" y="1447800"/>
            <a:ext cx="429667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76232" y="1143000"/>
            <a:ext cx="609600" cy="609600"/>
          </a:xfrm>
          <a:prstGeom prst="rect">
            <a:avLst/>
          </a:prstGeom>
          <a:solidFill>
            <a:srgbClr val="1A6B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05458" y="1314450"/>
            <a:ext cx="35099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19205" y="1905000"/>
            <a:ext cx="152380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Label Encoding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3426" y="2181225"/>
            <a:ext cx="1635361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All categorical features encoded for ML compatibility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47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Handling Imbalance with SMOTE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593949"/>
            <a:ext cx="3747962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SMOTE Overview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1981200"/>
            <a:ext cx="35666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Original ratio: 88.6% vs 11.4%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2362200"/>
            <a:ext cx="31736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SMOTE generates synthetic minority samples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71800"/>
            <a:ext cx="317367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Applied only on training set to prevent data leakage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3657600"/>
            <a:ext cx="634901" cy="253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835301"/>
            <a:ext cx="3747962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XGBoost Tuning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4082951"/>
            <a:ext cx="356660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scale_pos_weight = 7.78 for class balance</a:t>
            </a:r>
            <a:endParaRPr lang="en-US" sz="1200" dirty="0"/>
          </a:p>
        </p:txBody>
      </p:sp>
      <p:pic>
        <p:nvPicPr>
          <p:cNvPr id="11" name="Image 0" descr="/home/z/my-project/download/images/16_smote_visu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502" y="1238250"/>
            <a:ext cx="431795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4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64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 Building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599" y="1130201"/>
            <a:ext cx="2412950" cy="304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98599" y="1154013"/>
            <a:ext cx="2412950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750" y="1431727"/>
            <a:ext cx="236784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1750" y="1746052"/>
            <a:ext cx="507950" cy="253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01750" y="1923752"/>
            <a:ext cx="236784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class_weight='balanced'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1750" y="2234803"/>
            <a:ext cx="24882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max_iter=1000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1750" y="2545854"/>
            <a:ext cx="210698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Baseline model with L2 regularization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1750" y="3218855"/>
            <a:ext cx="2106982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Trained on SMOTE-balanced training data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65450" y="1130201"/>
            <a:ext cx="2412950" cy="304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365450" y="1154013"/>
            <a:ext cx="2412950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8601" y="1431727"/>
            <a:ext cx="24882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8601" y="1746052"/>
            <a:ext cx="507950" cy="253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68601" y="1923752"/>
            <a:ext cx="24882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200 estimators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8601" y="2234803"/>
            <a:ext cx="24882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max_depth=15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8601" y="2545854"/>
            <a:ext cx="236784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class_weight='balanced'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8601" y="3009305"/>
            <a:ext cx="236784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Ensemble of decision trees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2302" y="1130201"/>
            <a:ext cx="2412950" cy="304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032302" y="1154013"/>
            <a:ext cx="2412950" cy="0"/>
          </a:xfrm>
          <a:prstGeom prst="line">
            <a:avLst/>
          </a:prstGeom>
          <a:noFill/>
          <a:ln w="47625">
            <a:solidFill>
              <a:srgbClr val="1A6B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5452" y="1431727"/>
            <a:ext cx="26086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XGBoost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35452" y="1746052"/>
            <a:ext cx="507950" cy="253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35452" y="1923752"/>
            <a:ext cx="248824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300 estimators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5452" y="2234803"/>
            <a:ext cx="236784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scale_pos_weight=7.78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5452" y="2545854"/>
            <a:ext cx="236784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learning_rate=0.1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5452" y="3009305"/>
            <a:ext cx="236784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Best performing model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47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 Evaluation - ROC Curves</a:t>
            </a:r>
            <a:endParaRPr lang="en-US" sz="2400" dirty="0"/>
          </a:p>
        </p:txBody>
      </p:sp>
      <p:pic>
        <p:nvPicPr>
          <p:cNvPr id="4" name="Image 0" descr="/home/z/my-project/download/images/10_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50" y="1073200"/>
            <a:ext cx="6349901" cy="3301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4635550"/>
            <a:ext cx="9144000" cy="507950"/>
          </a:xfrm>
          <a:prstGeom prst="rect">
            <a:avLst/>
          </a:prstGeom>
          <a:solidFill>
            <a:srgbClr val="D6E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2811438" y="4803725"/>
            <a:ext cx="352112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XGBoost achieves highest AUC of 0.6549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5401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6488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 Performance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62000" y="1917650"/>
            <a:ext cx="7620000" cy="406301"/>
          </a:xfrm>
          <a:prstGeom prst="rect">
            <a:avLst/>
          </a:prstGeom>
          <a:solidFill>
            <a:srgbClr val="1A6B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91749" y="2035076"/>
            <a:ext cx="57230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84996" y="2035076"/>
            <a:ext cx="9354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ROC-AUC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4360" y="2035076"/>
            <a:ext cx="8516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Avg Prec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95967" y="2035076"/>
            <a:ext cx="58371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Recall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59339" y="2035076"/>
            <a:ext cx="89192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98946" y="2035076"/>
            <a:ext cx="84781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62000" y="2776389"/>
            <a:ext cx="7620000" cy="0"/>
          </a:xfrm>
          <a:prstGeom prst="line">
            <a:avLst/>
          </a:prstGeom>
          <a:noFill/>
          <a:ln w="9525">
            <a:solidFill>
              <a:srgbClr val="D6ED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592" y="2462064"/>
            <a:ext cx="171876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31022" y="2462064"/>
            <a:ext cx="6432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0.6420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48572" y="2462064"/>
            <a:ext cx="6432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0.1998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83162" y="2462064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0.54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00713" y="2462064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0.17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18263" y="2462064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2000" y="2781151"/>
            <a:ext cx="7620000" cy="457200"/>
          </a:xfrm>
          <a:prstGeom prst="rect">
            <a:avLst/>
          </a:prstGeom>
          <a:solidFill>
            <a:srgbClr val="D6ED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62000" y="3233589"/>
            <a:ext cx="7620000" cy="0"/>
          </a:xfrm>
          <a:prstGeom prst="line">
            <a:avLst/>
          </a:prstGeom>
          <a:noFill/>
          <a:ln w="9525">
            <a:solidFill>
              <a:srgbClr val="A8DA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4927" y="2919264"/>
            <a:ext cx="1385947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31022" y="2919264"/>
            <a:ext cx="6432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0.6507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48572" y="2919264"/>
            <a:ext cx="6432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0.1976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83162" y="2919264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0.09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00713" y="2919264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0.29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18263" y="2919264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0.14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54165" y="3381226"/>
            <a:ext cx="847621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XGBoost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31022" y="3381226"/>
            <a:ext cx="6432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0.6549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48572" y="3381226"/>
            <a:ext cx="64325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0.2147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83162" y="3381226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0.55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00713" y="3381226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0.18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18263" y="3381226"/>
            <a:ext cx="40932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0.27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80816" y="3898702"/>
            <a:ext cx="507950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23555" y="3898702"/>
            <a:ext cx="34968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DBFAB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XGBoost outperforms across all primary metrics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55234" y="3898702"/>
            <a:ext cx="507950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4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52475"/>
            <a:ext cx="9144000" cy="0"/>
          </a:xfrm>
          <a:prstGeom prst="line">
            <a:avLst/>
          </a:prstGeom>
          <a:noFill/>
          <a:ln w="19050">
            <a:solidFill>
              <a:srgbClr val="E398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95263"/>
            <a:ext cx="8534400" cy="38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98599" y="1117550"/>
            <a:ext cx="2412950" cy="2793950"/>
          </a:xfrm>
          <a:prstGeom prst="rect">
            <a:avLst/>
          </a:prstGeom>
          <a:solidFill>
            <a:srgbClr val="0A3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22412" y="1117550"/>
            <a:ext cx="0" cy="2793950"/>
          </a:xfrm>
          <a:prstGeom prst="line">
            <a:avLst/>
          </a:prstGeom>
          <a:noFill/>
          <a:ln w="47625">
            <a:solidFill>
              <a:srgbClr val="E398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9375" y="1371451"/>
            <a:ext cx="2703454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#1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49375" y="1869877"/>
            <a:ext cx="2429191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Top Predictor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9375" y="2227808"/>
            <a:ext cx="20569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number_inpatient is the strongest predictor of 30-day readmission risk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65450" y="1117550"/>
            <a:ext cx="2412950" cy="2793950"/>
          </a:xfrm>
          <a:prstGeom prst="rect">
            <a:avLst/>
          </a:prstGeom>
          <a:solidFill>
            <a:srgbClr val="0A3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89263" y="1117550"/>
            <a:ext cx="0" cy="2793950"/>
          </a:xfrm>
          <a:prstGeom prst="line">
            <a:avLst/>
          </a:prstGeom>
          <a:noFill/>
          <a:ln w="47625">
            <a:solidFill>
              <a:srgbClr val="E398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6226" y="1371451"/>
            <a:ext cx="2703454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#2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616226" y="1869877"/>
            <a:ext cx="2311649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Most Vulnerable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16226" y="2227808"/>
            <a:ext cx="20569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 70-80 patients are most vulnerable to 30-day readmission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2302" y="1117550"/>
            <a:ext cx="2412950" cy="2793950"/>
          </a:xfrm>
          <a:prstGeom prst="rect">
            <a:avLst/>
          </a:prstGeom>
          <a:solidFill>
            <a:srgbClr val="0A30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56114" y="1117550"/>
            <a:ext cx="0" cy="2793950"/>
          </a:xfrm>
          <a:prstGeom prst="line">
            <a:avLst/>
          </a:prstGeom>
          <a:noFill/>
          <a:ln w="47625">
            <a:solidFill>
              <a:srgbClr val="E398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3077" y="1371451"/>
            <a:ext cx="2703454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#3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83077" y="1869877"/>
            <a:ext cx="2429191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Insulin 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83077" y="2227808"/>
            <a:ext cx="205697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Insulin users show 2x higher readmission rate vs non-insulin patients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539901" cy="5143500"/>
          </a:xfrm>
          <a:prstGeom prst="rect">
            <a:avLst/>
          </a:prstGeom>
          <a:solidFill>
            <a:srgbClr val="124E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5487" y="1925687"/>
            <a:ext cx="1888778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3987D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$2M+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52500" y="2697212"/>
            <a:ext cx="634901" cy="25301"/>
          </a:xfrm>
          <a:prstGeom prst="rect">
            <a:avLst/>
          </a:prstGeom>
          <a:solidFill>
            <a:srgbClr val="A8DA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9402" y="2874913"/>
            <a:ext cx="128109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Potential savings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per 1,000 patients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6202" y="1498848"/>
            <a:ext cx="619779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A6B5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946202" y="2082850"/>
            <a:ext cx="101501" cy="1015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74653" y="2019449"/>
            <a:ext cx="41004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Each preventable readmission costs $15,000 - $25,000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46202" y="2489150"/>
            <a:ext cx="101501" cy="1015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174653" y="2425750"/>
            <a:ext cx="52652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hospital with 5,000 annual diabetic discharges could save $2M - $4M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46202" y="2895451"/>
            <a:ext cx="101501" cy="1015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74653" y="2832050"/>
            <a:ext cx="405381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Predictive models enable proactive discharge planning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46202" y="3301752"/>
            <a:ext cx="101501" cy="101501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74653" y="3238351"/>
            <a:ext cx="4975667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9B86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Targeted follow-up care for high-risk patients reduces readmissions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3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download/ppt_workspace/divid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028">
              <a:alpha val="8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80318" y="1533674"/>
            <a:ext cx="2983215" cy="565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191000" y="2159050"/>
            <a:ext cx="762000" cy="38100"/>
          </a:xfrm>
          <a:prstGeom prst="rect">
            <a:avLst/>
          </a:prstGeom>
          <a:solidFill>
            <a:srgbClr val="E3987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808732" y="2451050"/>
            <a:ext cx="152638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A8DAC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Adnan Jamali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481066" y="2892326"/>
            <a:ext cx="21818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adnanahmedkj@gmail.com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522174" y="3165277"/>
            <a:ext cx="209950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github.com/adnanjamali02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932438" y="3438227"/>
            <a:ext cx="32791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linkedin.com/in/adnan-jamali-22a12231b/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Project: Data Science - 30-Day Hospital Readmission Risk Prediction</dc:title>
  <dc:subject>PptxGenJS Presentation</dc:subject>
  <dc:creator>Adnan Jamali</dc:creator>
  <cp:lastModifiedBy>Adnan Jamali</cp:lastModifiedBy>
  <cp:revision>1</cp:revision>
  <dcterms:created xsi:type="dcterms:W3CDTF">2026-05-02T08:38:26Z</dcterms:created>
  <dcterms:modified xsi:type="dcterms:W3CDTF">2026-05-02T08:38:26Z</dcterms:modified>
</cp:coreProperties>
</file>